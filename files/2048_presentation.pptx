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0" r:id="rId6"/>
    <p:sldId id="259" r:id="rId7"/>
    <p:sldId id="25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EF"/>
    <a:srgbClr val="EEE4DA"/>
    <a:srgbClr val="766E63"/>
    <a:srgbClr val="776E65"/>
    <a:srgbClr val="EDC22E"/>
    <a:srgbClr val="F57C5F"/>
    <a:srgbClr val="ECE0C8"/>
    <a:srgbClr val="CCC0B4"/>
    <a:srgbClr val="BBADA0"/>
    <a:srgbClr val="E95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71D7-75A7-2AB4-7CD1-94D24B447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36E3A-CA3D-CF2E-DB9A-35587D974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F455-9BD4-D904-81EB-D7C868CC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BB3AD-7900-E1B5-CECF-0C81BE51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B2B8-7BD8-3533-FF9E-4247EB23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6121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34B9-4DDA-22B4-9200-601EFB2A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5069-ADFB-91AC-9A06-D648B64E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C7F24-A32F-4A16-776C-D6EAD17F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5DA21-CF05-358D-FFBC-7ABB3A2F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77F9F-A9B5-EE5B-321B-DF73A446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6902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07ED-2505-FE35-C3A9-E5B51497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9B91A-A3CA-8D63-5D88-8ABFF1127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C4FD8-470A-C5A7-E5DD-0754AA67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4BD6-09D9-66EA-0BD8-5535A989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FD2A-35F8-3BEC-47A7-9CD08EE1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5506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6589-CF24-67F3-616D-B1601458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25BE-850C-D8E9-9F89-F6C3D0021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93181-9C8D-DF2E-7F63-C9B94D7D0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BD8-8963-FEC9-C97C-D37A3D46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786F8-14D3-9E2D-C783-BBC775A9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67413-C3F1-1E3E-C8E4-4029299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2184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8BC5-5E38-968B-98D0-7CC79E54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F40B5-7688-4475-1D09-10A384A92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67947-FB02-E9D6-B931-B67353976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3FD6D-3A5A-1F85-197B-A091F7B9C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64EFC-8C16-FBBD-BFCA-2040BA819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65B2E-E084-F35B-7853-CF88CA0F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1DDB5-7B77-F49C-095D-0C275BF4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C0F40-4B9A-C6CD-7851-9A08FF64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4254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EAC6-AC06-56A5-DCB4-F1F546AE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70467-0AE5-BC43-0656-F7F21472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AFC75-50A0-7165-3E24-64A9CA82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8290E-0458-DB00-06BE-DC0CE607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0699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167EE-2F9C-F4AA-0F05-851F0A7B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AF0F9-D39B-76D0-2D49-F2B87353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DF6AF-A78A-AF82-0C6A-5C388525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1303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323B-3B6D-D2E7-BE70-51799143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54CA-01F3-7729-7367-EFD4A7C15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144B0-2809-0937-D2F8-EEF2954A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DA23D-A3B4-2D4A-7A4A-6BA5E685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B6B8E-8D0C-2580-B838-EC9BB65F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F4A59-B4D1-4BE6-A066-7E442B39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7296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9526-DE28-C6C2-A96B-27777BFC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BB72F-EC7A-001D-0C93-3E0C51797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00D8D-9C8B-D8A1-66CC-00D6CA5CE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478E5-AEF0-2CF4-7733-65F7CB7B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AFD1F-9107-A20C-5F68-B51CC1A6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E2060-A954-F567-25F8-2A8C9818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3572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4764-AE35-80E1-EDCF-FC7314DB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B5D64-DAF2-7FEA-29AA-885047D70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A7673-9C71-963A-B859-371E9F8F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A585F-375B-F3D8-BA43-EAAB35EB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6AF5-DD39-E0E7-B926-4B9542EA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1887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05903-2206-2313-1CA6-57F00BC75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EFF1C-B5AB-D0C4-0431-F73D9FF6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702D-5D74-37B5-27D7-612B6667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E0CB-523D-26CE-C018-3AB9FCAE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99168-477D-3522-1619-5F4C3C6E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878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EC36B-6E30-6973-6371-0BBD4ADEB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53834-29E1-E278-BCF5-A8F92C23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D846-7832-1A70-7103-45797C995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9E478-6D78-4C8E-906C-E2FE62A298E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F8B08-A80B-A9B5-5B10-8211139A9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A241E-0804-7E7F-898E-A7EE121F8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2A252-E653-4164-A478-0A88DD555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3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ikeoikon.github.io/2048-Autonomus-Agents-2025-202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28B73E-95D3-ADF7-F8A4-E51ED4147660}"/>
              </a:ext>
            </a:extLst>
          </p:cNvPr>
          <p:cNvSpPr/>
          <p:nvPr/>
        </p:nvSpPr>
        <p:spPr>
          <a:xfrm>
            <a:off x="1524000" y="3598606"/>
            <a:ext cx="9144000" cy="1651820"/>
          </a:xfrm>
          <a:prstGeom prst="roundRect">
            <a:avLst/>
          </a:prstGeom>
          <a:solidFill>
            <a:srgbClr val="776E6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7131F6-C930-B524-8936-F4BB15B282F0}"/>
              </a:ext>
            </a:extLst>
          </p:cNvPr>
          <p:cNvSpPr/>
          <p:nvPr/>
        </p:nvSpPr>
        <p:spPr>
          <a:xfrm>
            <a:off x="1524000" y="1120877"/>
            <a:ext cx="9144000" cy="2399071"/>
          </a:xfrm>
          <a:prstGeom prst="roundRect">
            <a:avLst>
              <a:gd name="adj" fmla="val 11339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C7DDA-3443-808B-A389-8B9B1DC86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258530"/>
            <a:ext cx="8839200" cy="1740310"/>
          </a:xfrm>
          <a:solidFill>
            <a:srgbClr val="EDC22E"/>
          </a:solidFill>
          <a:effectLst>
            <a:softEdge rad="0"/>
          </a:effectLst>
        </p:spPr>
        <p:txBody>
          <a:bodyPr>
            <a:normAutofit/>
          </a:bodyPr>
          <a:lstStyle/>
          <a:p>
            <a:r>
              <a:rPr lang="el-GR" sz="4800" b="1" dirty="0">
                <a:solidFill>
                  <a:schemeClr val="bg1"/>
                </a:solidFill>
              </a:rPr>
              <a:t>Ανάπτυξη Αυτόνομων Πρακτόρων στο 2048</a:t>
            </a:r>
            <a:endParaRPr lang="en-US" sz="4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B47F5-E729-4DAE-C43B-D87ECD71A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349" y="3775587"/>
            <a:ext cx="8657302" cy="1371599"/>
          </a:xfrm>
          <a:solidFill>
            <a:srgbClr val="776E65"/>
          </a:solidFill>
        </p:spPr>
        <p:txBody>
          <a:bodyPr>
            <a:noAutofit/>
          </a:bodyPr>
          <a:lstStyle/>
          <a:p>
            <a:r>
              <a:rPr lang="el-GR" sz="2000" b="1" dirty="0">
                <a:solidFill>
                  <a:schemeClr val="bg1"/>
                </a:solidFill>
              </a:rPr>
              <a:t>Από </a:t>
            </a:r>
            <a:r>
              <a:rPr lang="el-GR" sz="2000" b="1" dirty="0" err="1">
                <a:solidFill>
                  <a:schemeClr val="bg1"/>
                </a:solidFill>
              </a:rPr>
              <a:t>Ευριστικές</a:t>
            </a:r>
            <a:r>
              <a:rPr lang="el-GR" sz="2000" b="1" dirty="0">
                <a:solidFill>
                  <a:schemeClr val="bg1"/>
                </a:solidFill>
              </a:rPr>
              <a:t> Μεθόδους σε Βαθιά Ενισχυτική Μάθηση</a:t>
            </a:r>
          </a:p>
          <a:p>
            <a:br>
              <a:rPr lang="el-GR" sz="2000" dirty="0"/>
            </a:br>
            <a:r>
              <a:rPr lang="el-GR" sz="2000" dirty="0">
                <a:solidFill>
                  <a:schemeClr val="bg1"/>
                </a:solidFill>
              </a:rPr>
              <a:t>Όνομα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l-GR" sz="2000" dirty="0">
                <a:solidFill>
                  <a:schemeClr val="bg1"/>
                </a:solidFill>
              </a:rPr>
              <a:t>Μιχαήλ Οικονόμου</a:t>
            </a:r>
          </a:p>
          <a:p>
            <a:r>
              <a:rPr lang="el-GR" sz="2000" dirty="0">
                <a:solidFill>
                  <a:schemeClr val="bg1"/>
                </a:solidFill>
              </a:rPr>
              <a:t>Α.Μ. 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2023030017</a:t>
            </a:r>
            <a:endParaRPr lang="el-G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710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D6F6-8B8F-4BE5-55DA-54865146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36A89A-E374-EE6E-2A68-3F3C50AB1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" t="23797" r="5426" b="9769"/>
          <a:stretch>
            <a:fillRect/>
          </a:stretch>
        </p:blipFill>
        <p:spPr>
          <a:xfrm>
            <a:off x="838200" y="1825626"/>
            <a:ext cx="4933336" cy="4351338"/>
          </a:xfrm>
          <a:prstGeom prst="rect">
            <a:avLst/>
          </a:prstGeom>
          <a:solidFill>
            <a:srgbClr val="F57C5F"/>
          </a:solidFill>
          <a:ln w="38100">
            <a:solidFill>
              <a:srgbClr val="BBADA0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2D039C-13FD-19D2-884D-9D65E4507298}"/>
              </a:ext>
            </a:extLst>
          </p:cNvPr>
          <p:cNvSpPr/>
          <p:nvPr/>
        </p:nvSpPr>
        <p:spPr>
          <a:xfrm>
            <a:off x="838200" y="365124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400" b="1" dirty="0"/>
              <a:t>Το Περιβάλλον του 2048</a:t>
            </a:r>
            <a:endParaRPr lang="en-US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2B7FED-35EC-F929-1619-D8966DFB193D}"/>
              </a:ext>
            </a:extLst>
          </p:cNvPr>
          <p:cNvSpPr/>
          <p:nvPr/>
        </p:nvSpPr>
        <p:spPr>
          <a:xfrm>
            <a:off x="6096000" y="1825625"/>
            <a:ext cx="5257800" cy="4351338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776E65"/>
                </a:solidFill>
              </a:rPr>
              <a:t>Παιχνίδι παζλ σε πλέγμα 4x4.</a:t>
            </a: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b="1" dirty="0">
                <a:solidFill>
                  <a:srgbClr val="776E65"/>
                </a:solidFill>
              </a:rPr>
              <a:t>Στόχος:</a:t>
            </a:r>
            <a:r>
              <a:rPr lang="el-GR" dirty="0">
                <a:solidFill>
                  <a:srgbClr val="776E65"/>
                </a:solidFill>
              </a:rPr>
              <a:t> Συγχώνευση πλακιδίων μέχρι το 2048.</a:t>
            </a: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b="1" dirty="0" err="1">
                <a:solidFill>
                  <a:srgbClr val="776E65"/>
                </a:solidFill>
              </a:rPr>
              <a:t>Στοχαστικότητα</a:t>
            </a:r>
            <a:r>
              <a:rPr lang="el-GR" b="1" dirty="0">
                <a:solidFill>
                  <a:srgbClr val="776E65"/>
                </a:solidFill>
              </a:rPr>
              <a:t>:</a:t>
            </a:r>
            <a:r>
              <a:rPr lang="el-GR" dirty="0">
                <a:solidFill>
                  <a:srgbClr val="776E65"/>
                </a:solidFill>
              </a:rPr>
              <a:t> Εμφάνιση τυχαίων πλακιδίων (90% '2', 10% '4’).</a:t>
            </a: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776E65"/>
              </a:solidFill>
            </a:endParaRP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b="1" dirty="0">
                <a:solidFill>
                  <a:srgbClr val="776E65"/>
                </a:solidFill>
              </a:rPr>
              <a:t>Πρόκληση:</a:t>
            </a:r>
            <a:r>
              <a:rPr lang="el-GR" dirty="0">
                <a:solidFill>
                  <a:srgbClr val="776E65"/>
                </a:solidFill>
              </a:rPr>
              <a:t> Λήψη αποφάσεων υπό αβεβαιότητα σε εκθετικά αυξανόμενο χώρο καταστάσεων.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40144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D76A9-D11C-402B-B76C-4FBA4310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8D62BE7-F06B-CF36-0873-7C63B79A640A}"/>
              </a:ext>
            </a:extLst>
          </p:cNvPr>
          <p:cNvSpPr/>
          <p:nvPr/>
        </p:nvSpPr>
        <p:spPr>
          <a:xfrm>
            <a:off x="838200" y="1825625"/>
            <a:ext cx="10515600" cy="43588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A43C0-5425-FABF-479C-FA75056A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2460F-28AA-30FD-DA7C-77808E20A0F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CCC0B4"/>
          </a:solidFill>
          <a:ln>
            <a:solidFill>
              <a:srgbClr val="776E6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5820F2-3282-7B3D-D813-5FF3B09E23F6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/>
              <a:t> </a:t>
            </a:r>
            <a:r>
              <a:rPr lang="el-GR" sz="4400" b="1" dirty="0">
                <a:solidFill>
                  <a:schemeClr val="bg1"/>
                </a:solidFill>
              </a:rPr>
              <a:t>Οι Προσεγγίσεις μας</a:t>
            </a:r>
            <a:endParaRPr lang="en-US" sz="4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D32D7A-4440-8444-F919-B3F0BDC846E6}"/>
              </a:ext>
            </a:extLst>
          </p:cNvPr>
          <p:cNvSpPr/>
          <p:nvPr/>
        </p:nvSpPr>
        <p:spPr>
          <a:xfrm>
            <a:off x="7486032" y="1817270"/>
            <a:ext cx="3693245" cy="1572319"/>
          </a:xfrm>
          <a:prstGeom prst="roundRect">
            <a:avLst>
              <a:gd name="adj" fmla="val 8928"/>
            </a:avLst>
          </a:prstGeom>
          <a:solidFill>
            <a:srgbClr val="E959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FAF8EF"/>
              </a:buClr>
            </a:pPr>
            <a:r>
              <a:rPr lang="el-GR" sz="2000" b="1" dirty="0">
                <a:solidFill>
                  <a:srgbClr val="FAF8EF"/>
                </a:solidFill>
              </a:rPr>
              <a:t>Monte </a:t>
            </a:r>
            <a:r>
              <a:rPr lang="el-GR" sz="2000" b="1" dirty="0" err="1">
                <a:solidFill>
                  <a:srgbClr val="FAF8EF"/>
                </a:solidFill>
              </a:rPr>
              <a:t>Carlo</a:t>
            </a:r>
            <a:endParaRPr lang="el-GR" sz="2000" b="1" dirty="0">
              <a:solidFill>
                <a:srgbClr val="FAF8EF"/>
              </a:solidFill>
            </a:endParaRPr>
          </a:p>
          <a:p>
            <a:pPr marL="285750" indent="-285750">
              <a:buClr>
                <a:srgbClr val="FAF8EF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FAF8EF"/>
                </a:solidFill>
              </a:rPr>
              <a:t>Στατιστική προσομοίωση</a:t>
            </a:r>
          </a:p>
          <a:p>
            <a:pPr marL="285750" indent="-285750" algn="ctr">
              <a:buClr>
                <a:srgbClr val="FAF8EF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FAF8E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05B28C-A115-B81C-552C-9627BBA07CD8}"/>
              </a:ext>
            </a:extLst>
          </p:cNvPr>
          <p:cNvSpPr/>
          <p:nvPr/>
        </p:nvSpPr>
        <p:spPr>
          <a:xfrm>
            <a:off x="838200" y="1809743"/>
            <a:ext cx="3723968" cy="1579846"/>
          </a:xfrm>
          <a:prstGeom prst="roundRect">
            <a:avLst>
              <a:gd name="adj" fmla="val 8928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b="1" dirty="0">
              <a:latin typeface="Arial Rounded MT Bold" panose="020F0704030504030204" pitchFamily="34" charset="0"/>
            </a:endParaRPr>
          </a:p>
          <a:p>
            <a:pPr lvl="1">
              <a:buClr>
                <a:srgbClr val="EDC22E"/>
              </a:buClr>
            </a:pPr>
            <a:r>
              <a:rPr lang="el-GR" sz="2000" b="1" dirty="0" err="1">
                <a:solidFill>
                  <a:srgbClr val="766E63"/>
                </a:solidFill>
              </a:rPr>
              <a:t>Random</a:t>
            </a:r>
            <a:r>
              <a:rPr lang="el-GR" sz="2000" b="1" dirty="0">
                <a:solidFill>
                  <a:srgbClr val="766E63"/>
                </a:solidFill>
              </a:rPr>
              <a:t> </a:t>
            </a:r>
            <a:r>
              <a:rPr lang="el-GR" sz="2000" b="1" dirty="0" err="1">
                <a:solidFill>
                  <a:srgbClr val="766E63"/>
                </a:solidFill>
              </a:rPr>
              <a:t>Agent</a:t>
            </a:r>
            <a:endParaRPr lang="el-GR" sz="2000" b="1" dirty="0">
              <a:solidFill>
                <a:srgbClr val="766E63"/>
              </a:solidFill>
            </a:endParaRPr>
          </a:p>
          <a:p>
            <a:pPr marL="742950" lvl="1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66E63"/>
                </a:solidFill>
              </a:rPr>
              <a:t>Τυχαίες κινήσεις</a:t>
            </a:r>
          </a:p>
          <a:p>
            <a:pPr marL="742950" lvl="1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rgbClr val="766E63"/>
                </a:solidFill>
              </a:rPr>
              <a:t>Baseline</a:t>
            </a:r>
            <a:r>
              <a:rPr lang="el-GR" sz="2000" dirty="0">
                <a:solidFill>
                  <a:srgbClr val="766E63"/>
                </a:solidFill>
              </a:rPr>
              <a:t> σύγκρισης</a:t>
            </a:r>
          </a:p>
          <a:p>
            <a:br>
              <a:rPr lang="el-GR" dirty="0"/>
            </a:b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1D401E-745D-7D5D-4531-A57B49DDEF3D}"/>
              </a:ext>
            </a:extLst>
          </p:cNvPr>
          <p:cNvSpPr/>
          <p:nvPr/>
        </p:nvSpPr>
        <p:spPr>
          <a:xfrm>
            <a:off x="838200" y="3524526"/>
            <a:ext cx="3723968" cy="1563966"/>
          </a:xfrm>
          <a:prstGeom prst="roundRect">
            <a:avLst/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sz="2000" b="1" dirty="0" err="1"/>
              <a:t>Expectimax</a:t>
            </a:r>
            <a:endParaRPr lang="el-GR" sz="20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l-GR" sz="2000" dirty="0"/>
              <a:t>Δέντρα Αναζήτησης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l-GR" sz="2000" dirty="0"/>
              <a:t>Γνώση πιθανοτήτων</a:t>
            </a:r>
          </a:p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45909-2454-6084-1F7D-4D62F858C20B}"/>
              </a:ext>
            </a:extLst>
          </p:cNvPr>
          <p:cNvSpPr/>
          <p:nvPr/>
        </p:nvSpPr>
        <p:spPr>
          <a:xfrm>
            <a:off x="4778478" y="3524526"/>
            <a:ext cx="3867768" cy="1563967"/>
          </a:xfrm>
          <a:prstGeom prst="roundRect">
            <a:avLst/>
          </a:prstGeom>
          <a:solidFill>
            <a:srgbClr val="F57C5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sz="2000" b="1" dirty="0" err="1"/>
              <a:t>Deep</a:t>
            </a:r>
            <a:r>
              <a:rPr lang="el-GR" sz="2000" b="1" dirty="0"/>
              <a:t> Q-</a:t>
            </a:r>
            <a:r>
              <a:rPr lang="el-GR" sz="2000" b="1" dirty="0" err="1"/>
              <a:t>Network</a:t>
            </a:r>
            <a:endParaRPr lang="el-GR" sz="20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l-GR" sz="2000" dirty="0" err="1"/>
              <a:t>Νευρωνικά</a:t>
            </a:r>
            <a:r>
              <a:rPr lang="el-GR" sz="2000" dirty="0"/>
              <a:t> Δίκτυα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l-GR" sz="2000" dirty="0"/>
              <a:t>Μάθηση από το μηδέν</a:t>
            </a:r>
          </a:p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FDAB44-1B72-73A5-2284-5359B913AF47}"/>
              </a:ext>
            </a:extLst>
          </p:cNvPr>
          <p:cNvSpPr/>
          <p:nvPr/>
        </p:nvSpPr>
        <p:spPr>
          <a:xfrm>
            <a:off x="4778478" y="1817270"/>
            <a:ext cx="2507225" cy="1572319"/>
          </a:xfrm>
          <a:prstGeom prst="roundRect">
            <a:avLst>
              <a:gd name="adj" fmla="val 10414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l-GR" sz="2000" b="1" dirty="0">
              <a:solidFill>
                <a:srgbClr val="766E63"/>
              </a:solidFill>
            </a:endParaRPr>
          </a:p>
          <a:p>
            <a:pPr>
              <a:buClr>
                <a:srgbClr val="EDC22E"/>
              </a:buClr>
            </a:pPr>
            <a:r>
              <a:rPr lang="el-GR" sz="2000" b="1" dirty="0" err="1">
                <a:solidFill>
                  <a:srgbClr val="766E63"/>
                </a:solidFill>
              </a:rPr>
              <a:t>Greedy</a:t>
            </a:r>
            <a:r>
              <a:rPr lang="el-GR" sz="2000" b="1" dirty="0">
                <a:solidFill>
                  <a:srgbClr val="766E63"/>
                </a:solidFill>
              </a:rPr>
              <a:t> </a:t>
            </a: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66E63"/>
                </a:solidFill>
              </a:rPr>
              <a:t>Στρατηγική </a:t>
            </a:r>
            <a:r>
              <a:rPr lang="el-GR" sz="2000" dirty="0" err="1">
                <a:solidFill>
                  <a:srgbClr val="766E63"/>
                </a:solidFill>
              </a:rPr>
              <a:t>Snake</a:t>
            </a:r>
            <a:endParaRPr lang="el-GR" sz="2000" dirty="0">
              <a:solidFill>
                <a:srgbClr val="766E63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2080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build="allAtOnce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66C78-08F3-91C8-476F-CE300652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00DC-1DD8-1FCD-C545-EB9C889E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6A281D-0274-CFB9-4B22-A4DCBE986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088" y="1931058"/>
            <a:ext cx="4351397" cy="1325562"/>
          </a:xfrm>
          <a:prstGeom prst="rect">
            <a:avLst/>
          </a:prstGeom>
          <a:ln w="57150">
            <a:solidFill>
              <a:srgbClr val="766E63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2CAE13-A6BD-EA34-805A-35E625717AD7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400" b="1" dirty="0"/>
              <a:t> </a:t>
            </a:r>
            <a:r>
              <a:rPr lang="el-GR" sz="4400" b="1" dirty="0" err="1"/>
              <a:t>Ευριστική</a:t>
            </a:r>
            <a:r>
              <a:rPr lang="el-GR" sz="4400" b="1" dirty="0"/>
              <a:t> Αξιολόγηση (</a:t>
            </a:r>
            <a:r>
              <a:rPr lang="en-US" sz="4400" b="1" dirty="0"/>
              <a:t>Heuristics)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75226E-4929-2F95-AFA4-DEFFB65A97CE}"/>
              </a:ext>
            </a:extLst>
          </p:cNvPr>
          <p:cNvSpPr/>
          <p:nvPr/>
        </p:nvSpPr>
        <p:spPr>
          <a:xfrm>
            <a:off x="5801032" y="1781502"/>
            <a:ext cx="5552768" cy="4351338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sz="2000" dirty="0">
                <a:solidFill>
                  <a:srgbClr val="776E65"/>
                </a:solidFill>
              </a:rPr>
              <a:t>Πώς ξεχωρίζουμε μια "καλή" θέση;</a:t>
            </a:r>
          </a:p>
          <a:p>
            <a:endParaRPr lang="el-GR" sz="2000" dirty="0">
              <a:solidFill>
                <a:srgbClr val="776E65"/>
              </a:solidFill>
            </a:endParaRPr>
          </a:p>
          <a:p>
            <a:r>
              <a:rPr lang="el-GR" sz="2000" b="1" dirty="0">
                <a:solidFill>
                  <a:srgbClr val="776E65"/>
                </a:solidFill>
              </a:rPr>
              <a:t>Στρατηγική </a:t>
            </a:r>
            <a:r>
              <a:rPr lang="el-GR" sz="2000" b="1" dirty="0" err="1">
                <a:solidFill>
                  <a:srgbClr val="776E65"/>
                </a:solidFill>
              </a:rPr>
              <a:t>Snake</a:t>
            </a:r>
            <a:r>
              <a:rPr lang="el-GR" sz="2000" b="1" dirty="0">
                <a:solidFill>
                  <a:srgbClr val="776E65"/>
                </a:solidFill>
              </a:rPr>
              <a:t>:</a:t>
            </a:r>
            <a:endParaRPr lang="el-GR" sz="2000" dirty="0">
              <a:solidFill>
                <a:srgbClr val="776E65"/>
              </a:solidFill>
            </a:endParaRPr>
          </a:p>
          <a:p>
            <a:pPr marL="800100" lvl="1" indent="-34290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76E65"/>
                </a:solidFill>
              </a:rPr>
              <a:t>Μονοτονία στο πλέγμα.</a:t>
            </a:r>
          </a:p>
          <a:p>
            <a:pPr marL="800100" lvl="1" indent="-34290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76E65"/>
                </a:solidFill>
              </a:rPr>
              <a:t>Διατήρηση του μέγιστου πλακιδίου σε γωνία.</a:t>
            </a:r>
          </a:p>
          <a:p>
            <a:pPr marL="800100" lvl="1" indent="-34290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rgbClr val="776E65"/>
                </a:solidFill>
              </a:rPr>
              <a:t>Bonus</a:t>
            </a:r>
            <a:r>
              <a:rPr lang="el-GR" sz="2000" dirty="0">
                <a:solidFill>
                  <a:srgbClr val="776E65"/>
                </a:solidFill>
              </a:rPr>
              <a:t> για κενά κελιά.</a:t>
            </a:r>
          </a:p>
          <a:p>
            <a:pPr marL="800100" lvl="1" indent="-342900">
              <a:buClr>
                <a:srgbClr val="EDC22E"/>
              </a:buClr>
              <a:buFont typeface="Arial" panose="020B0604020202020204" pitchFamily="34" charset="0"/>
              <a:buChar char="•"/>
            </a:pPr>
            <a:endParaRPr lang="el-GR" sz="2000" dirty="0">
              <a:solidFill>
                <a:srgbClr val="776E65"/>
              </a:solidFill>
            </a:endParaRPr>
          </a:p>
          <a:p>
            <a:pPr marL="800100" lvl="1" indent="-342900">
              <a:buClr>
                <a:srgbClr val="EDC22E"/>
              </a:buClr>
              <a:buFont typeface="Arial" panose="020B0604020202020204" pitchFamily="34" charset="0"/>
              <a:buChar char="•"/>
            </a:pPr>
            <a:endParaRPr lang="el-GR" sz="2000" dirty="0">
              <a:solidFill>
                <a:srgbClr val="776E65"/>
              </a:solidFill>
            </a:endParaRPr>
          </a:p>
          <a:p>
            <a:r>
              <a:rPr lang="el-GR" sz="2000" dirty="0">
                <a:solidFill>
                  <a:srgbClr val="776E65"/>
                </a:solidFill>
              </a:rPr>
              <a:t>Χρησιμοποιείται από τους </a:t>
            </a:r>
            <a:r>
              <a:rPr lang="el-GR" sz="2000" dirty="0" err="1">
                <a:solidFill>
                  <a:srgbClr val="776E65"/>
                </a:solidFill>
              </a:rPr>
              <a:t>Greedy</a:t>
            </a:r>
            <a:r>
              <a:rPr lang="el-GR" sz="2000" dirty="0">
                <a:solidFill>
                  <a:srgbClr val="776E65"/>
                </a:solidFill>
              </a:rPr>
              <a:t> και </a:t>
            </a:r>
            <a:r>
              <a:rPr lang="el-GR" sz="2000" dirty="0" err="1">
                <a:solidFill>
                  <a:srgbClr val="776E65"/>
                </a:solidFill>
              </a:rPr>
              <a:t>Expectimax</a:t>
            </a:r>
            <a:r>
              <a:rPr lang="el-GR" sz="2000" dirty="0">
                <a:solidFill>
                  <a:srgbClr val="776E65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D6511-4DF9-A7B6-F40F-5CB1A40F7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88" y="3601381"/>
            <a:ext cx="4351398" cy="711581"/>
          </a:xfrm>
          <a:prstGeom prst="rect">
            <a:avLst/>
          </a:prstGeom>
          <a:ln w="57150">
            <a:solidFill>
              <a:srgbClr val="766E63"/>
            </a:solidFill>
          </a:ln>
        </p:spPr>
      </p:pic>
    </p:spTree>
    <p:extLst>
      <p:ext uri="{BB962C8B-B14F-4D97-AF65-F5344CB8AC3E}">
        <p14:creationId xmlns:p14="http://schemas.microsoft.com/office/powerpoint/2010/main" val="125644493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84B9D-96EB-D431-32C7-9EC290A2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CABA-45E0-9FAE-92F9-C3AB203A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17D8-5C3E-94C7-6F20-01A53EAEE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795C9E-F3F6-76BF-23A1-7E6C4F3AF5AE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/>
              <a:t>Expectimax</a:t>
            </a:r>
            <a:r>
              <a:rPr lang="en-US" sz="4400" b="1" dirty="0"/>
              <a:t> Agent (Model-Based)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62950B-BCA7-7DED-60B2-C6253A2E7381}"/>
              </a:ext>
            </a:extLst>
          </p:cNvPr>
          <p:cNvSpPr/>
          <p:nvPr/>
        </p:nvSpPr>
        <p:spPr>
          <a:xfrm>
            <a:off x="838200" y="1825625"/>
            <a:ext cx="10515600" cy="3208491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776E65"/>
                </a:solidFill>
              </a:rPr>
              <a:t>Βέλτιστη προσέγγιση για στοχαστικά παιχνίδια.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b="1" dirty="0" err="1">
                <a:solidFill>
                  <a:srgbClr val="776E65"/>
                </a:solidFill>
              </a:rPr>
              <a:t>Max</a:t>
            </a:r>
            <a:r>
              <a:rPr lang="el-GR" sz="2400" b="1" dirty="0">
                <a:solidFill>
                  <a:srgbClr val="776E65"/>
                </a:solidFill>
              </a:rPr>
              <a:t> </a:t>
            </a:r>
            <a:r>
              <a:rPr lang="el-GR" sz="2400" b="1" dirty="0" err="1">
                <a:solidFill>
                  <a:srgbClr val="776E65"/>
                </a:solidFill>
              </a:rPr>
              <a:t>Nodes</a:t>
            </a:r>
            <a:r>
              <a:rPr lang="el-GR" sz="2400" b="1" dirty="0">
                <a:solidFill>
                  <a:srgbClr val="776E65"/>
                </a:solidFill>
              </a:rPr>
              <a:t>:</a:t>
            </a:r>
            <a:r>
              <a:rPr lang="el-GR" sz="2400" dirty="0">
                <a:solidFill>
                  <a:srgbClr val="776E65"/>
                </a:solidFill>
              </a:rPr>
              <a:t> Η σειρά του παίκτη (Μεγιστοποίηση Σκορ).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b="1" dirty="0" err="1">
                <a:solidFill>
                  <a:srgbClr val="776E65"/>
                </a:solidFill>
              </a:rPr>
              <a:t>Chance</a:t>
            </a:r>
            <a:r>
              <a:rPr lang="el-GR" sz="2400" b="1" dirty="0">
                <a:solidFill>
                  <a:srgbClr val="776E65"/>
                </a:solidFill>
              </a:rPr>
              <a:t> </a:t>
            </a:r>
            <a:r>
              <a:rPr lang="el-GR" sz="2400" b="1" dirty="0" err="1">
                <a:solidFill>
                  <a:srgbClr val="776E65"/>
                </a:solidFill>
              </a:rPr>
              <a:t>Nodes</a:t>
            </a:r>
            <a:r>
              <a:rPr lang="el-GR" sz="2400" b="1" dirty="0">
                <a:solidFill>
                  <a:srgbClr val="776E65"/>
                </a:solidFill>
              </a:rPr>
              <a:t>:</a:t>
            </a:r>
            <a:r>
              <a:rPr lang="el-GR" sz="2400" dirty="0">
                <a:solidFill>
                  <a:srgbClr val="776E65"/>
                </a:solidFill>
              </a:rPr>
              <a:t> Η σειρά της "Τύχης" (Υπολογισμός Μέσης Τιμής).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b="1" dirty="0" err="1">
                <a:solidFill>
                  <a:srgbClr val="776E65"/>
                </a:solidFill>
              </a:rPr>
              <a:t>Depth</a:t>
            </a:r>
            <a:r>
              <a:rPr lang="el-GR" sz="2400" b="1" dirty="0">
                <a:solidFill>
                  <a:srgbClr val="776E65"/>
                </a:solidFill>
              </a:rPr>
              <a:t>:</a:t>
            </a:r>
            <a:r>
              <a:rPr lang="el-GR" sz="2400" dirty="0">
                <a:solidFill>
                  <a:srgbClr val="776E65"/>
                </a:solidFill>
              </a:rPr>
              <a:t> Αναζήτηση σε βάθος 3 κινήσεων.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b="1" dirty="0">
                <a:solidFill>
                  <a:srgbClr val="776E65"/>
                </a:solidFill>
              </a:rPr>
              <a:t>Αποτέλεσμα:</a:t>
            </a:r>
            <a:r>
              <a:rPr lang="el-GR" sz="2400" dirty="0">
                <a:solidFill>
                  <a:srgbClr val="776E65"/>
                </a:solidFill>
              </a:rPr>
              <a:t> Φτάνει στο 2048 σταθερά.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7474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00AEA-D983-ED76-0527-E9F0957D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E95A-3F94-3C84-A2EF-57893222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D1759-E6F6-07FE-5A3D-3696F31A6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6AE886-2A93-E79A-B9F8-65B4E4EF82DE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 Deep Reinforcement Learning (DQN)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AEE1C1-1BC7-3BFA-7E62-C7A2EEACBBDF}"/>
              </a:ext>
            </a:extLst>
          </p:cNvPr>
          <p:cNvSpPr/>
          <p:nvPr/>
        </p:nvSpPr>
        <p:spPr>
          <a:xfrm>
            <a:off x="838200" y="1825625"/>
            <a:ext cx="10515600" cy="2903691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76E65"/>
                </a:solidFill>
              </a:rPr>
              <a:t>Model-Free:</a:t>
            </a:r>
            <a:r>
              <a:rPr lang="en-US" sz="2400" dirty="0">
                <a:solidFill>
                  <a:srgbClr val="776E65"/>
                </a:solidFill>
              </a:rPr>
              <a:t> </a:t>
            </a:r>
            <a:r>
              <a:rPr lang="el-GR" sz="2400" dirty="0">
                <a:solidFill>
                  <a:srgbClr val="776E65"/>
                </a:solidFill>
              </a:rPr>
              <a:t>Δεν γνωρίζει τους κανόνες. Μαθαίνει παίζοντας.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76E65"/>
                </a:solidFill>
              </a:rPr>
              <a:t>Input:</a:t>
            </a:r>
            <a:r>
              <a:rPr lang="en-US" sz="2400" dirty="0">
                <a:solidFill>
                  <a:srgbClr val="776E65"/>
                </a:solidFill>
              </a:rPr>
              <a:t> One-Hot Encoding </a:t>
            </a:r>
            <a:r>
              <a:rPr lang="el-GR" sz="2400" dirty="0">
                <a:solidFill>
                  <a:srgbClr val="776E65"/>
                </a:solidFill>
              </a:rPr>
              <a:t>του πλέγματος (γεωμετρική αντίληψη).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76E65"/>
                </a:solidFill>
              </a:rPr>
              <a:t>Experience Replay:</a:t>
            </a:r>
            <a:r>
              <a:rPr lang="en-US" sz="2400" dirty="0">
                <a:solidFill>
                  <a:srgbClr val="776E65"/>
                </a:solidFill>
              </a:rPr>
              <a:t> </a:t>
            </a:r>
            <a:r>
              <a:rPr lang="el-GR" sz="2400" dirty="0">
                <a:solidFill>
                  <a:srgbClr val="776E65"/>
                </a:solidFill>
              </a:rPr>
              <a:t>Μνήμη 50.000 κινήσεων για σταθερή εκπαίδευση.</a:t>
            </a: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76E65"/>
                </a:solidFill>
              </a:rPr>
              <a:t>Reward Shaping:</a:t>
            </a:r>
            <a:r>
              <a:rPr lang="en-US" sz="2400" dirty="0">
                <a:solidFill>
                  <a:srgbClr val="776E65"/>
                </a:solidFill>
              </a:rPr>
              <a:t> </a:t>
            </a:r>
            <a:r>
              <a:rPr lang="el-GR" sz="2400" dirty="0">
                <a:solidFill>
                  <a:srgbClr val="776E65"/>
                </a:solidFill>
              </a:rPr>
              <a:t>Επιβράβευση για συγχωνεύσεις, αυστηρή ποινή για ήττα</a:t>
            </a:r>
            <a:r>
              <a:rPr lang="el-GR" dirty="0">
                <a:solidFill>
                  <a:srgbClr val="776E65"/>
                </a:solidFill>
              </a:rPr>
              <a:t>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6212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4427F-973C-C518-6113-EE46AB6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59E0-EA7D-617C-17FF-BC4CB203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download">
            <a:hlinkClick r:id="" action="ppaction://media"/>
            <a:extLst>
              <a:ext uri="{FF2B5EF4-FFF2-40B4-BE49-F238E27FC236}">
                <a16:creationId xmlns:a16="http://schemas.microsoft.com/office/drawing/2014/main" id="{EA11067B-FF82-24F5-DA58-3488920B985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5675" y="1835457"/>
            <a:ext cx="7740650" cy="4351338"/>
          </a:xfrm>
          <a:ln w="57150">
            <a:solidFill>
              <a:srgbClr val="776E65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8302B9-9508-7512-CA13-66A887F66CCF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 Deep Reinforcement Learning (DQN)</a:t>
            </a:r>
          </a:p>
        </p:txBody>
      </p:sp>
    </p:spTree>
    <p:extLst>
      <p:ext uri="{BB962C8B-B14F-4D97-AF65-F5344CB8AC3E}">
        <p14:creationId xmlns:p14="http://schemas.microsoft.com/office/powerpoint/2010/main" val="38365193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423D8-F6FD-CD07-DE70-A2DE1E5C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F4FB-A098-9FB7-1801-0ED2FE9D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EAF9C9-B779-EC79-311A-5EE0E6B87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375787" cy="4221212"/>
          </a:xfrm>
          <a:prstGeom prst="rect">
            <a:avLst/>
          </a:prstGeom>
          <a:ln w="57150">
            <a:solidFill>
              <a:srgbClr val="766E63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DABA65-68EE-6B10-2251-27D92736603E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400" b="1" dirty="0"/>
              <a:t>Καμπύλη Μάθησης (</a:t>
            </a:r>
            <a:r>
              <a:rPr lang="en-US" sz="4400" b="1" dirty="0"/>
              <a:t>Training)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71CF5D-D9E6-6F72-E39E-D305194AC513}"/>
              </a:ext>
            </a:extLst>
          </p:cNvPr>
          <p:cNvSpPr/>
          <p:nvPr/>
        </p:nvSpPr>
        <p:spPr>
          <a:xfrm>
            <a:off x="6371304" y="1825625"/>
            <a:ext cx="4982495" cy="4221213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76E65"/>
                </a:solidFill>
              </a:rPr>
              <a:t>Εκπαίδευση σε 10.000+ επεισόδια.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000" b="1" dirty="0" err="1">
                <a:solidFill>
                  <a:srgbClr val="776E65"/>
                </a:solidFill>
              </a:rPr>
              <a:t>Exploration</a:t>
            </a:r>
            <a:r>
              <a:rPr lang="el-GR" sz="2000" b="1" dirty="0">
                <a:solidFill>
                  <a:srgbClr val="776E65"/>
                </a:solidFill>
              </a:rPr>
              <a:t>:</a:t>
            </a:r>
            <a:r>
              <a:rPr lang="el-GR" sz="2000" dirty="0">
                <a:solidFill>
                  <a:srgbClr val="776E65"/>
                </a:solidFill>
              </a:rPr>
              <a:t> Αρχικά τυχαίες κινήσεις (</a:t>
            </a:r>
            <a:r>
              <a:rPr lang="el-GR" sz="2000" dirty="0" err="1">
                <a:solidFill>
                  <a:srgbClr val="776E65"/>
                </a:solidFill>
              </a:rPr>
              <a:t>Epsilon</a:t>
            </a:r>
            <a:r>
              <a:rPr lang="el-GR" sz="2000" dirty="0">
                <a:solidFill>
                  <a:srgbClr val="776E65"/>
                </a:solidFill>
              </a:rPr>
              <a:t> = 1.0).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000" b="1" dirty="0" err="1">
                <a:solidFill>
                  <a:srgbClr val="776E65"/>
                </a:solidFill>
              </a:rPr>
              <a:t>Exploitation</a:t>
            </a:r>
            <a:r>
              <a:rPr lang="el-GR" sz="2000" b="1" dirty="0">
                <a:solidFill>
                  <a:srgbClr val="776E65"/>
                </a:solidFill>
              </a:rPr>
              <a:t>:</a:t>
            </a:r>
            <a:r>
              <a:rPr lang="el-GR" sz="2000" dirty="0">
                <a:solidFill>
                  <a:srgbClr val="776E65"/>
                </a:solidFill>
              </a:rPr>
              <a:t> Σταδιακή μετάβαση στη στρατηγική (</a:t>
            </a:r>
            <a:r>
              <a:rPr lang="el-GR" sz="2000" dirty="0" err="1">
                <a:solidFill>
                  <a:srgbClr val="776E65"/>
                </a:solidFill>
              </a:rPr>
              <a:t>Epsilon</a:t>
            </a:r>
            <a:r>
              <a:rPr lang="el-GR" sz="2000" dirty="0">
                <a:solidFill>
                  <a:srgbClr val="776E65"/>
                </a:solidFill>
              </a:rPr>
              <a:t> -&gt; 0.01).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776E65"/>
                </a:solidFill>
              </a:rPr>
              <a:t>Παρατηρούμε σταθερή βελτίωση του μέσου σκορ.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40793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41305-0EC0-8A58-1DA8-B0A664A2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EB4A-414F-28AA-CE06-851FB657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908BE8-127A-FF01-40AB-DF1D8235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6" y="1825624"/>
            <a:ext cx="5188974" cy="4351339"/>
          </a:xfrm>
          <a:prstGeom prst="rect">
            <a:avLst/>
          </a:prstGeom>
          <a:ln w="57150">
            <a:solidFill>
              <a:srgbClr val="776E65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B36A0A-256F-63E3-1FC7-C990530FE306}"/>
              </a:ext>
            </a:extLst>
          </p:cNvPr>
          <p:cNvSpPr/>
          <p:nvPr/>
        </p:nvSpPr>
        <p:spPr>
          <a:xfrm>
            <a:off x="838200" y="365124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400" b="1" dirty="0"/>
              <a:t>Σύγκριση Επιδόσεων</a:t>
            </a:r>
            <a:endParaRPr lang="en-US" sz="4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52371F-57BF-83D4-51B4-27CE0BE973F7}"/>
              </a:ext>
            </a:extLst>
          </p:cNvPr>
          <p:cNvSpPr/>
          <p:nvPr/>
        </p:nvSpPr>
        <p:spPr>
          <a:xfrm>
            <a:off x="6164826" y="1825624"/>
            <a:ext cx="5188974" cy="4351339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b="1" dirty="0" err="1">
                <a:solidFill>
                  <a:srgbClr val="776E65"/>
                </a:solidFill>
              </a:rPr>
              <a:t>Random</a:t>
            </a:r>
            <a:r>
              <a:rPr lang="el-GR" sz="2000" b="1" dirty="0">
                <a:solidFill>
                  <a:srgbClr val="776E65"/>
                </a:solidFill>
              </a:rPr>
              <a:t>:</a:t>
            </a:r>
            <a:r>
              <a:rPr lang="el-GR" sz="2000" dirty="0">
                <a:solidFill>
                  <a:srgbClr val="776E65"/>
                </a:solidFill>
              </a:rPr>
              <a:t> Αποτυχία (~1000 πόντοι).</a:t>
            </a: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b="1" dirty="0">
                <a:solidFill>
                  <a:srgbClr val="776E65"/>
                </a:solidFill>
              </a:rPr>
              <a:t>DQN:</a:t>
            </a:r>
            <a:r>
              <a:rPr lang="el-GR" sz="2000" dirty="0">
                <a:solidFill>
                  <a:srgbClr val="776E65"/>
                </a:solidFill>
              </a:rPr>
              <a:t> Σημαντική βελτίωση, ξεπερνά τον </a:t>
            </a:r>
            <a:r>
              <a:rPr lang="el-GR" sz="2000" dirty="0" err="1">
                <a:solidFill>
                  <a:srgbClr val="776E65"/>
                </a:solidFill>
              </a:rPr>
              <a:t>Random</a:t>
            </a:r>
            <a:r>
              <a:rPr lang="el-GR" sz="2000" dirty="0">
                <a:solidFill>
                  <a:srgbClr val="776E65"/>
                </a:solidFill>
              </a:rPr>
              <a:t> χωρίς κανόνες.</a:t>
            </a:r>
          </a:p>
          <a:p>
            <a:pPr marL="285750" indent="-285750">
              <a:buClr>
                <a:srgbClr val="EDC22E"/>
              </a:buClr>
              <a:buFont typeface="Arial" panose="020B0604020202020204" pitchFamily="34" charset="0"/>
              <a:buChar char="•"/>
            </a:pPr>
            <a:r>
              <a:rPr lang="el-GR" sz="2000" b="1" dirty="0" err="1">
                <a:solidFill>
                  <a:srgbClr val="776E65"/>
                </a:solidFill>
              </a:rPr>
              <a:t>Expectimax</a:t>
            </a:r>
            <a:r>
              <a:rPr lang="el-GR" sz="2000" b="1" dirty="0">
                <a:solidFill>
                  <a:srgbClr val="776E65"/>
                </a:solidFill>
              </a:rPr>
              <a:t>:</a:t>
            </a:r>
            <a:r>
              <a:rPr lang="el-GR" sz="2000" dirty="0">
                <a:solidFill>
                  <a:srgbClr val="776E65"/>
                </a:solidFill>
              </a:rPr>
              <a:t> Κυριαρχία λόγω πλήρους γνώσης του δέντρου αναζήτησης.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63031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17C06-DC81-9E36-3180-B5248D2B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297B-D40C-EAC1-DC6B-D0620FE7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BDA1-E95D-01EA-517F-08CE94FAE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81F6B3-0047-985D-BE90-C16097049BE7}"/>
              </a:ext>
            </a:extLst>
          </p:cNvPr>
          <p:cNvSpPr/>
          <p:nvPr/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400" b="1" dirty="0">
                <a:solidFill>
                  <a:schemeClr val="bg1"/>
                </a:solidFill>
              </a:rPr>
              <a:t>Συμπεράσματα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D82B59-760A-2D2C-7B01-61D404E36BCC}"/>
              </a:ext>
            </a:extLst>
          </p:cNvPr>
          <p:cNvSpPr/>
          <p:nvPr/>
        </p:nvSpPr>
        <p:spPr>
          <a:xfrm>
            <a:off x="838200" y="1825625"/>
            <a:ext cx="10515600" cy="4351338"/>
          </a:xfrm>
          <a:prstGeom prst="roundRect">
            <a:avLst>
              <a:gd name="adj" fmla="val 4239"/>
            </a:avLst>
          </a:prstGeom>
          <a:solidFill>
            <a:srgbClr val="EEE4D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766E63"/>
                </a:solidFill>
              </a:rPr>
              <a:t>Σε παιχνίδια παζλ με γνωστούς κανόνες, οι </a:t>
            </a:r>
            <a:r>
              <a:rPr lang="el-GR" sz="2400" b="1" dirty="0" err="1">
                <a:solidFill>
                  <a:srgbClr val="766E63"/>
                </a:solidFill>
              </a:rPr>
              <a:t>Model-Based</a:t>
            </a:r>
            <a:r>
              <a:rPr lang="el-GR" sz="2400" dirty="0">
                <a:solidFill>
                  <a:srgbClr val="766E63"/>
                </a:solidFill>
              </a:rPr>
              <a:t> (</a:t>
            </a:r>
            <a:r>
              <a:rPr lang="el-GR" sz="2400" dirty="0" err="1">
                <a:solidFill>
                  <a:srgbClr val="766E63"/>
                </a:solidFill>
              </a:rPr>
              <a:t>Expectimax</a:t>
            </a:r>
            <a:r>
              <a:rPr lang="el-GR" sz="2400" dirty="0">
                <a:solidFill>
                  <a:srgbClr val="766E63"/>
                </a:solidFill>
              </a:rPr>
              <a:t>) αλγόριθμοι υπερέχουν.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766E63"/>
                </a:solidFill>
              </a:rPr>
              <a:t>Η </a:t>
            </a:r>
            <a:r>
              <a:rPr lang="el-GR" sz="2400" b="1" dirty="0">
                <a:solidFill>
                  <a:srgbClr val="766E63"/>
                </a:solidFill>
              </a:rPr>
              <a:t>Ενισχυτική Μάθηση</a:t>
            </a:r>
            <a:r>
              <a:rPr lang="el-GR" sz="2400" dirty="0">
                <a:solidFill>
                  <a:srgbClr val="766E63"/>
                </a:solidFill>
              </a:rPr>
              <a:t> (DQN) μπορεί να μάθει στρατηγικές (όπως τις γωνίες) από το μηδέν, αλλά απαιτεί τεράστιο χρόνο εκπαίδευσης.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766E63"/>
                </a:solidFill>
              </a:rPr>
              <a:t>Η χρήση </a:t>
            </a:r>
            <a:r>
              <a:rPr lang="el-GR" sz="2400" b="1" dirty="0" err="1">
                <a:solidFill>
                  <a:srgbClr val="766E63"/>
                </a:solidFill>
              </a:rPr>
              <a:t>One-Hot</a:t>
            </a:r>
            <a:r>
              <a:rPr lang="el-GR" sz="2400" b="1" dirty="0">
                <a:solidFill>
                  <a:srgbClr val="766E63"/>
                </a:solidFill>
              </a:rPr>
              <a:t> </a:t>
            </a:r>
            <a:r>
              <a:rPr lang="el-GR" sz="2400" b="1" dirty="0" err="1">
                <a:solidFill>
                  <a:srgbClr val="766E63"/>
                </a:solidFill>
              </a:rPr>
              <a:t>Encoding</a:t>
            </a:r>
            <a:r>
              <a:rPr lang="el-GR" sz="2400" dirty="0">
                <a:solidFill>
                  <a:srgbClr val="766E63"/>
                </a:solidFill>
              </a:rPr>
              <a:t> ήταν κρίσιμη για την απόδοση του </a:t>
            </a:r>
            <a:r>
              <a:rPr lang="el-GR" sz="2400" dirty="0" err="1">
                <a:solidFill>
                  <a:srgbClr val="766E63"/>
                </a:solidFill>
              </a:rPr>
              <a:t>Νευρωνικού</a:t>
            </a:r>
            <a:r>
              <a:rPr lang="el-GR" sz="2400" dirty="0">
                <a:solidFill>
                  <a:srgbClr val="766E63"/>
                </a:solidFill>
              </a:rPr>
              <a:t> Δικτύου.</a:t>
            </a:r>
          </a:p>
          <a:p>
            <a:pPr algn="ctr"/>
            <a:endParaRPr lang="en-US" dirty="0">
              <a:solidFill>
                <a:srgbClr val="776E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4343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CF426-4647-15E0-6EB5-ACFE521E5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b="1" dirty="0"/>
              <a:t>Ευχαριστώ για την προσοχή σας!</a:t>
            </a:r>
          </a:p>
          <a:p>
            <a:pPr marL="0" indent="0">
              <a:buNone/>
            </a:pPr>
            <a:endParaRPr lang="el-GR" sz="2400" b="1" dirty="0"/>
          </a:p>
          <a:p>
            <a:pPr marL="0" indent="0">
              <a:buNone/>
            </a:pPr>
            <a:r>
              <a:rPr lang="en-US" sz="2400" b="1" u="sng" dirty="0">
                <a:hlinkClick r:id="rId2"/>
              </a:rPr>
              <a:t>https://mikeoikon.github.io/2048-Autonomus-Agents-2025-2026/</a:t>
            </a: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62BBD3-FC2A-D17F-DF44-613CE968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>
              <a:gd name="adj" fmla="val 13700"/>
            </a:avLst>
          </a:prstGeom>
          <a:solidFill>
            <a:srgbClr val="EDC2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solidFill>
                  <a:schemeClr val="bg1"/>
                </a:solidFill>
              </a:rPr>
              <a:t>Τέλος 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7767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385</Words>
  <Application>Microsoft Office PowerPoint</Application>
  <PresentationFormat>Widescreen</PresentationFormat>
  <Paragraphs>68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Arial Rounded MT Bold</vt:lpstr>
      <vt:lpstr>Office Theme</vt:lpstr>
      <vt:lpstr>Ανάπτυξη Αυτόνομων Πρακτόρων στο 2048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Τέλος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Michail Oikonomou</dc:creator>
  <cp:lastModifiedBy>Michail Oikonomou</cp:lastModifiedBy>
  <cp:revision>2</cp:revision>
  <dcterms:created xsi:type="dcterms:W3CDTF">2026-02-19T16:38:51Z</dcterms:created>
  <dcterms:modified xsi:type="dcterms:W3CDTF">2026-02-20T16:41:45Z</dcterms:modified>
</cp:coreProperties>
</file>